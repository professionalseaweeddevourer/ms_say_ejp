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24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90" r:id="rId23"/>
    <p:sldId id="291" r:id="rId24"/>
    <p:sldId id="286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7" r:id="rId34"/>
    <p:sldId id="288" r:id="rId35"/>
    <p:sldId id="289" r:id="rId3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06" d="100"/>
          <a:sy n="106" d="100"/>
        </p:scale>
        <p:origin x="-168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25" r:id="rId1"/>
    <p:sldLayoutId id="2147484226" r:id="rId2"/>
    <p:sldLayoutId id="2147484227" r:id="rId3"/>
    <p:sldLayoutId id="2147484228" r:id="rId4"/>
    <p:sldLayoutId id="2147484229" r:id="rId5"/>
    <p:sldLayoutId id="2147484230" r:id="rId6"/>
    <p:sldLayoutId id="2147484231" r:id="rId7"/>
    <p:sldLayoutId id="2147484232" r:id="rId8"/>
    <p:sldLayoutId id="2147484233" r:id="rId9"/>
    <p:sldLayoutId id="2147484234" r:id="rId10"/>
    <p:sldLayoutId id="2147484235" r:id="rId11"/>
  </p:sldLayoutIdLst>
  <p:txStyles>
    <p:titleStyle>
      <a:lvl1pPr algn="l" defTabSz="914400" rtl="0" eaLnBrk="1" latinLnBrk="1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1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1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1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1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1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1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1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HTML</a:t>
            </a:r>
            <a:endParaRPr lang="ko-KR" altLang="en-US" dirty="0"/>
          </a:p>
        </p:txBody>
      </p:sp>
      <p:sp>
        <p:nvSpPr>
          <p:cNvPr id="4" name="부제목 4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/>
          <a:lstStyle/>
          <a:p>
            <a:r>
              <a:rPr lang="ko-KR" altLang="en-US" dirty="0" smtClean="0"/>
              <a:t>기초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637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개</a:t>
            </a:r>
            <a:r>
              <a:rPr lang="ko-KR" altLang="en-US" dirty="0"/>
              <a:t>요</a:t>
            </a:r>
          </a:p>
        </p:txBody>
      </p:sp>
    </p:spTree>
    <p:extLst>
      <p:ext uri="{BB962C8B-B14F-4D97-AF65-F5344CB8AC3E}">
        <p14:creationId xmlns:p14="http://schemas.microsoft.com/office/powerpoint/2010/main" val="2566147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HTML?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정의와 특징</a:t>
            </a:r>
          </a:p>
          <a:p>
            <a:pPr lvl="1"/>
            <a:r>
              <a:rPr lang="en-US" altLang="ko-KR" dirty="0" err="1" smtClean="0"/>
              <a:t>HyperText</a:t>
            </a:r>
            <a:r>
              <a:rPr lang="en-US" altLang="ko-KR" dirty="0" smtClean="0"/>
              <a:t> </a:t>
            </a:r>
            <a:r>
              <a:rPr lang="en-US" altLang="ko-KR" dirty="0"/>
              <a:t>Markup </a:t>
            </a:r>
            <a:r>
              <a:rPr lang="en-US" altLang="ko-KR" dirty="0" smtClean="0"/>
              <a:t>Language</a:t>
            </a:r>
            <a:endParaRPr lang="en-US" altLang="ko-KR" dirty="0"/>
          </a:p>
          <a:p>
            <a:pPr lvl="1"/>
            <a:r>
              <a:rPr lang="ko-KR" altLang="en-US" dirty="0" smtClean="0"/>
              <a:t>웹 페이지를 </a:t>
            </a:r>
            <a:r>
              <a:rPr lang="ko-KR" altLang="en-US" dirty="0"/>
              <a:t>작성하는 데 쓰이는 표준 파일 포맷</a:t>
            </a:r>
          </a:p>
          <a:p>
            <a:pPr lvl="1"/>
            <a:r>
              <a:rPr lang="ko-KR" altLang="en-US" dirty="0" smtClean="0"/>
              <a:t>웹 </a:t>
            </a:r>
            <a:r>
              <a:rPr lang="ko-KR" altLang="en-US" dirty="0"/>
              <a:t>문서에서 문자나 영상</a:t>
            </a:r>
            <a:r>
              <a:rPr lang="en-US" altLang="ko-KR" dirty="0"/>
              <a:t>, </a:t>
            </a:r>
            <a:r>
              <a:rPr lang="ko-KR" altLang="en-US" dirty="0"/>
              <a:t>음향 등의 정보를 연결해주는 하이퍼텍스트를 만들 수 있도록 해주는 </a:t>
            </a:r>
            <a:r>
              <a:rPr lang="ko-KR" altLang="en-US" dirty="0" smtClean="0"/>
              <a:t>언어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확장자는</a:t>
            </a:r>
            <a:r>
              <a:rPr lang="ko-KR" altLang="en-US" dirty="0" smtClean="0"/>
              <a:t> </a:t>
            </a:r>
            <a:r>
              <a:rPr lang="en-US" altLang="ko-KR" dirty="0" smtClean="0"/>
              <a:t>.html </a:t>
            </a:r>
            <a:r>
              <a:rPr lang="ko-KR" altLang="en-US" dirty="0" smtClean="0"/>
              <a:t>또는 </a:t>
            </a:r>
            <a:r>
              <a:rPr lang="en-US" altLang="ko-KR" dirty="0" smtClean="0"/>
              <a:t>.</a:t>
            </a:r>
            <a:r>
              <a:rPr lang="en-US" altLang="ko-KR" dirty="0" err="1" smtClean="0"/>
              <a:t>htm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대</a:t>
            </a:r>
            <a:r>
              <a:rPr lang="en-US" altLang="ko-KR" dirty="0"/>
              <a:t> · </a:t>
            </a:r>
            <a:r>
              <a:rPr lang="ko-KR" altLang="en-US" dirty="0" smtClean="0"/>
              <a:t>소문자 구분 하지 않음</a:t>
            </a:r>
            <a:endParaRPr lang="en-US" altLang="ko-KR" dirty="0" smtClean="0"/>
          </a:p>
          <a:p>
            <a:pPr lvl="1"/>
            <a:endParaRPr lang="ko-KR" altLang="en-US" dirty="0"/>
          </a:p>
          <a:p>
            <a:r>
              <a:rPr lang="ko-KR" altLang="en-US" dirty="0" smtClean="0"/>
              <a:t>구성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태그</a:t>
            </a:r>
            <a:r>
              <a:rPr lang="en-US" altLang="ko-KR" dirty="0"/>
              <a:t>(Tag</a:t>
            </a:r>
            <a:r>
              <a:rPr lang="en-US" altLang="ko-KR" dirty="0" smtClean="0"/>
              <a:t>)</a:t>
            </a:r>
          </a:p>
          <a:p>
            <a:pPr lvl="2"/>
            <a:r>
              <a:rPr lang="ko-KR" altLang="en-US" dirty="0" smtClean="0"/>
              <a:t>시작태그 </a:t>
            </a:r>
            <a:r>
              <a:rPr lang="en-US" altLang="ko-KR" dirty="0" smtClean="0"/>
              <a:t>&lt;xxx&gt;</a:t>
            </a:r>
          </a:p>
          <a:p>
            <a:pPr lvl="2"/>
            <a:r>
              <a:rPr lang="ko-KR" altLang="en-US" dirty="0" smtClean="0"/>
              <a:t>종료태그 </a:t>
            </a:r>
            <a:r>
              <a:rPr lang="en-US" altLang="ko-KR" dirty="0" smtClean="0"/>
              <a:t>&lt;/xxx&gt;</a:t>
            </a:r>
          </a:p>
          <a:p>
            <a:pPr lvl="1"/>
            <a:r>
              <a:rPr lang="ko-KR" altLang="en-US" dirty="0" smtClean="0"/>
              <a:t>문자열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ex)  &lt;b&gt;</a:t>
            </a:r>
            <a:r>
              <a:rPr lang="ko-KR" altLang="en-US" dirty="0" smtClean="0"/>
              <a:t>굵은 글자</a:t>
            </a:r>
            <a:r>
              <a:rPr lang="en-US" altLang="ko-KR" dirty="0" smtClean="0"/>
              <a:t>&lt;/b&gt;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2473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구성 요소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 dirty="0" smtClean="0"/>
              <a:t>Tag </a:t>
            </a:r>
            <a:endParaRPr lang="en-US" altLang="ko-KR" dirty="0"/>
          </a:p>
          <a:p>
            <a:pPr lvl="1"/>
            <a:r>
              <a:rPr lang="en-US" altLang="ko-KR" dirty="0" smtClean="0"/>
              <a:t>&lt;</a:t>
            </a:r>
            <a:r>
              <a:rPr lang="ko-KR" altLang="en-US" dirty="0"/>
              <a:t>와 </a:t>
            </a:r>
            <a:r>
              <a:rPr lang="en-US" altLang="ko-KR" dirty="0"/>
              <a:t>&gt; </a:t>
            </a:r>
            <a:r>
              <a:rPr lang="ko-KR" altLang="en-US" dirty="0"/>
              <a:t>기호로 둘러싸인 </a:t>
            </a:r>
            <a:r>
              <a:rPr lang="ko-KR" altLang="en-US" dirty="0" smtClean="0"/>
              <a:t>표현 명령어</a:t>
            </a:r>
            <a:endParaRPr lang="en-US" altLang="ko-KR" dirty="0"/>
          </a:p>
          <a:p>
            <a:pPr lvl="1"/>
            <a:r>
              <a:rPr lang="ko-KR" altLang="en-US" dirty="0"/>
              <a:t>시작 태그와 종료 태그 두 </a:t>
            </a:r>
            <a:r>
              <a:rPr lang="ko-KR" altLang="en-US" dirty="0" smtClean="0"/>
              <a:t>종류</a:t>
            </a:r>
            <a:r>
              <a:rPr lang="en-US" altLang="ko-KR" dirty="0" smtClean="0"/>
              <a:t> </a:t>
            </a:r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 err="1" smtClean="0"/>
              <a:t>ElementName</a:t>
            </a:r>
            <a:endParaRPr lang="en-US" altLang="ko-KR" dirty="0"/>
          </a:p>
          <a:p>
            <a:pPr lvl="1"/>
            <a:r>
              <a:rPr lang="en-US" altLang="ko-KR" dirty="0" smtClean="0"/>
              <a:t>&lt;</a:t>
            </a:r>
            <a:r>
              <a:rPr lang="en-US" altLang="ko-KR" dirty="0" smtClean="0">
                <a:solidFill>
                  <a:srgbClr val="0070C0"/>
                </a:solidFill>
              </a:rPr>
              <a:t>b</a:t>
            </a:r>
            <a:r>
              <a:rPr lang="en-US" altLang="ko-KR" dirty="0" smtClean="0"/>
              <a:t>&gt;&lt;/</a:t>
            </a:r>
            <a:r>
              <a:rPr lang="en-US" altLang="ko-KR" dirty="0" smtClean="0">
                <a:solidFill>
                  <a:srgbClr val="0070C0"/>
                </a:solidFill>
              </a:rPr>
              <a:t>b</a:t>
            </a:r>
            <a:r>
              <a:rPr lang="en-US" altLang="ko-KR" dirty="0" smtClean="0"/>
              <a:t>&gt;</a:t>
            </a:r>
            <a:endParaRPr lang="en-US" altLang="ko-KR" dirty="0"/>
          </a:p>
          <a:p>
            <a:pPr lvl="1"/>
            <a:r>
              <a:rPr lang="ko-KR" altLang="en-US" dirty="0" smtClean="0"/>
              <a:t>옵션 </a:t>
            </a:r>
            <a:r>
              <a:rPr lang="ko-KR" altLang="en-US" dirty="0"/>
              <a:t>형태의 속성이 있을 수 있다</a:t>
            </a:r>
            <a:r>
              <a:rPr lang="en-US" altLang="ko-KR" dirty="0"/>
              <a:t>. 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Attribute</a:t>
            </a:r>
            <a:endParaRPr lang="en-US" altLang="ko-KR" dirty="0"/>
          </a:p>
          <a:p>
            <a:pPr lvl="1"/>
            <a:r>
              <a:rPr lang="ko-KR" altLang="en-US" dirty="0" smtClean="0"/>
              <a:t>시작 </a:t>
            </a:r>
            <a:r>
              <a:rPr lang="ko-KR" altLang="en-US" dirty="0"/>
              <a:t>태그 내에 사용해 명령을 </a:t>
            </a:r>
            <a:r>
              <a:rPr lang="ko-KR" altLang="en-US" dirty="0" smtClean="0"/>
              <a:t>구체화</a:t>
            </a:r>
            <a:r>
              <a:rPr lang="en-US" altLang="ko-KR" dirty="0" smtClean="0"/>
              <a:t> </a:t>
            </a:r>
            <a:endParaRPr lang="en-US" altLang="ko-KR" dirty="0"/>
          </a:p>
          <a:p>
            <a:pPr lvl="1"/>
            <a:r>
              <a:rPr lang="en-US" altLang="ko-KR" dirty="0" smtClean="0"/>
              <a:t>&lt;font </a:t>
            </a:r>
            <a:r>
              <a:rPr lang="en-US" altLang="ko-KR" dirty="0" smtClean="0">
                <a:solidFill>
                  <a:srgbClr val="0070C0"/>
                </a:solidFill>
              </a:rPr>
              <a:t>size</a:t>
            </a:r>
            <a:r>
              <a:rPr lang="en-US" altLang="ko-KR" dirty="0" smtClean="0"/>
              <a:t>=“5”&gt;</a:t>
            </a:r>
            <a:r>
              <a:rPr lang="ko-KR" altLang="en-US" dirty="0" smtClean="0"/>
              <a:t>사이즈</a:t>
            </a:r>
            <a:r>
              <a:rPr lang="en-US" altLang="ko-KR" dirty="0" smtClean="0"/>
              <a:t>5</a:t>
            </a:r>
            <a:r>
              <a:rPr lang="ko-KR" altLang="en-US" dirty="0" smtClean="0"/>
              <a:t>인 글자</a:t>
            </a:r>
            <a:r>
              <a:rPr lang="en-US" altLang="ko-KR" dirty="0" smtClean="0"/>
              <a:t>&lt;/font&gt;</a:t>
            </a:r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 err="1" smtClean="0"/>
              <a:t>AttributeValue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속성의 값</a:t>
            </a:r>
            <a:endParaRPr lang="en-US" altLang="ko-KR" dirty="0"/>
          </a:p>
          <a:p>
            <a:pPr lvl="1"/>
            <a:r>
              <a:rPr lang="en-US" altLang="ko-KR" dirty="0" smtClean="0"/>
              <a:t>&lt;font size=</a:t>
            </a:r>
            <a:r>
              <a:rPr lang="en-US" altLang="ko-KR" dirty="0" smtClean="0">
                <a:solidFill>
                  <a:srgbClr val="0070C0"/>
                </a:solidFill>
              </a:rPr>
              <a:t>“5”</a:t>
            </a:r>
            <a:r>
              <a:rPr lang="en-US" altLang="ko-KR" dirty="0" smtClean="0"/>
              <a:t>&gt;</a:t>
            </a:r>
            <a:endParaRPr lang="en-US" altLang="ko-KR" dirty="0"/>
          </a:p>
          <a:p>
            <a:pPr lvl="1"/>
            <a:r>
              <a:rPr lang="en-US" altLang="ko-KR" dirty="0" smtClean="0"/>
              <a:t>“”</a:t>
            </a:r>
            <a:r>
              <a:rPr lang="ko-KR" altLang="en-US" dirty="0" smtClean="0"/>
              <a:t>를 쓰지 않아도 상관 없으나 </a:t>
            </a:r>
            <a:r>
              <a:rPr lang="en-US" altLang="ko-KR" dirty="0" smtClean="0"/>
              <a:t>“”</a:t>
            </a:r>
            <a:r>
              <a:rPr lang="ko-KR" altLang="en-US" dirty="0" smtClean="0"/>
              <a:t>사용을 권장</a:t>
            </a:r>
            <a:r>
              <a:rPr lang="en-US" altLang="ko-KR" dirty="0" smtClean="0"/>
              <a:t> 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5048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HTML</a:t>
            </a:r>
            <a:r>
              <a:rPr lang="ko-KR" altLang="en-US" dirty="0" smtClean="0"/>
              <a:t> 작성 툴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글자만 쓸 수 있으면 됨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메모장</a:t>
            </a:r>
            <a:r>
              <a:rPr lang="en-US" altLang="ko-KR" dirty="0" smtClean="0"/>
              <a:t>, MS Word, </a:t>
            </a:r>
            <a:r>
              <a:rPr lang="ko-KR" altLang="en-US" dirty="0" smtClean="0"/>
              <a:t>한글</a:t>
            </a:r>
            <a:r>
              <a:rPr lang="en-US" altLang="ko-KR" dirty="0" smtClean="0"/>
              <a:t>, …</a:t>
            </a:r>
          </a:p>
          <a:p>
            <a:pPr lvl="1"/>
            <a:endParaRPr lang="en-US" altLang="ko-KR" dirty="0"/>
          </a:p>
          <a:p>
            <a:r>
              <a:rPr lang="en-US" altLang="ko-KR" dirty="0" smtClean="0"/>
              <a:t>HTML</a:t>
            </a:r>
            <a:r>
              <a:rPr lang="ko-KR" altLang="en-US" dirty="0" smtClean="0"/>
              <a:t>문서 전용 저작 도구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dreamweaver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나모웹에디터</a:t>
            </a:r>
            <a:r>
              <a:rPr lang="en-US" altLang="ko-KR" dirty="0" smtClean="0"/>
              <a:t>, …</a:t>
            </a:r>
          </a:p>
          <a:p>
            <a:pPr lvl="1"/>
            <a:endParaRPr lang="en-US" altLang="ko-KR" dirty="0"/>
          </a:p>
          <a:p>
            <a:r>
              <a:rPr lang="ko-KR" altLang="en-US" dirty="0" smtClean="0"/>
              <a:t>통합개발환경</a:t>
            </a:r>
            <a:r>
              <a:rPr lang="en-US" altLang="ko-KR" dirty="0" smtClean="0"/>
              <a:t>(IDE)</a:t>
            </a:r>
          </a:p>
          <a:p>
            <a:pPr lvl="1"/>
            <a:r>
              <a:rPr lang="en-US" altLang="ko-KR" dirty="0" smtClean="0"/>
              <a:t>eclipse, </a:t>
            </a:r>
            <a:r>
              <a:rPr lang="en-US" altLang="ko-KR" dirty="0" err="1" smtClean="0"/>
              <a:t>Xcode</a:t>
            </a:r>
            <a:r>
              <a:rPr lang="en-US" altLang="ko-KR" dirty="0" smtClean="0"/>
              <a:t>, …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9190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개발 환경 설정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1671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eclipse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http://www.eclipse.org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514" y="2031794"/>
            <a:ext cx="7452320" cy="3732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액자 3"/>
          <p:cNvSpPr/>
          <p:nvPr/>
        </p:nvSpPr>
        <p:spPr>
          <a:xfrm>
            <a:off x="1818054" y="2987987"/>
            <a:ext cx="611924" cy="288032"/>
          </a:xfrm>
          <a:prstGeom prst="fram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6" name="액자 5"/>
          <p:cNvSpPr/>
          <p:nvPr/>
        </p:nvSpPr>
        <p:spPr>
          <a:xfrm>
            <a:off x="5058126" y="4077072"/>
            <a:ext cx="1008112" cy="360040"/>
          </a:xfrm>
          <a:prstGeom prst="fram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482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eclipse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setup</a:t>
            </a:r>
            <a:r>
              <a:rPr lang="ko-KR" altLang="en-US" dirty="0" smtClean="0"/>
              <a:t>과정 거치지 않고 바로 압축 풀어서 사용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작업한 파일이 저장될 위치 지정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852936"/>
            <a:ext cx="4320480" cy="1967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5035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HTML</a:t>
            </a:r>
            <a:r>
              <a:rPr lang="ko-KR" altLang="en-US" dirty="0" smtClean="0"/>
              <a:t>기초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7555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HTML </a:t>
            </a:r>
            <a:r>
              <a:rPr lang="ko-KR" altLang="en-US" dirty="0" smtClean="0"/>
              <a:t>작성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프로젝트 작성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988840"/>
            <a:ext cx="5832648" cy="4374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2391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99" y="1988840"/>
            <a:ext cx="3946821" cy="4552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액자 4"/>
          <p:cNvSpPr/>
          <p:nvPr/>
        </p:nvSpPr>
        <p:spPr>
          <a:xfrm>
            <a:off x="1583812" y="2673060"/>
            <a:ext cx="3204212" cy="216024"/>
          </a:xfrm>
          <a:prstGeom prst="fram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6" name="액자 5"/>
          <p:cNvSpPr/>
          <p:nvPr/>
        </p:nvSpPr>
        <p:spPr>
          <a:xfrm>
            <a:off x="3563888" y="6210417"/>
            <a:ext cx="611924" cy="216024"/>
          </a:xfrm>
          <a:prstGeom prst="fram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597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HTML</a:t>
            </a:r>
            <a:r>
              <a:rPr lang="ko-KR" altLang="en-US" dirty="0" smtClean="0"/>
              <a:t>파일 작성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988840"/>
            <a:ext cx="6120680" cy="4590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3971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988840"/>
            <a:ext cx="4032448" cy="4646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액자 4"/>
          <p:cNvSpPr/>
          <p:nvPr/>
        </p:nvSpPr>
        <p:spPr>
          <a:xfrm>
            <a:off x="1529734" y="5256383"/>
            <a:ext cx="3330298" cy="216024"/>
          </a:xfrm>
          <a:prstGeom prst="fram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6" name="액자 5"/>
          <p:cNvSpPr/>
          <p:nvPr/>
        </p:nvSpPr>
        <p:spPr>
          <a:xfrm>
            <a:off x="3401942" y="6264207"/>
            <a:ext cx="702150" cy="216024"/>
          </a:xfrm>
          <a:prstGeom prst="fram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30507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eclipse</a:t>
            </a:r>
            <a:r>
              <a:rPr lang="ko-KR" altLang="en-US" dirty="0" smtClean="0"/>
              <a:t>설정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글자 크기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988840"/>
            <a:ext cx="4962525" cy="361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05666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268761"/>
            <a:ext cx="4366539" cy="3816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액자 4"/>
          <p:cNvSpPr/>
          <p:nvPr/>
        </p:nvSpPr>
        <p:spPr>
          <a:xfrm>
            <a:off x="341458" y="1656126"/>
            <a:ext cx="1134198" cy="476730"/>
          </a:xfrm>
          <a:prstGeom prst="fram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6" name="액자 5"/>
          <p:cNvSpPr/>
          <p:nvPr/>
        </p:nvSpPr>
        <p:spPr>
          <a:xfrm>
            <a:off x="1664785" y="2028961"/>
            <a:ext cx="567099" cy="238365"/>
          </a:xfrm>
          <a:prstGeom prst="fram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2852936"/>
            <a:ext cx="4359926" cy="3810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액자 7"/>
          <p:cNvSpPr/>
          <p:nvPr/>
        </p:nvSpPr>
        <p:spPr>
          <a:xfrm>
            <a:off x="7380312" y="3645024"/>
            <a:ext cx="792088" cy="238365"/>
          </a:xfrm>
          <a:prstGeom prst="fram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9" name="액자 8"/>
          <p:cNvSpPr/>
          <p:nvPr/>
        </p:nvSpPr>
        <p:spPr>
          <a:xfrm>
            <a:off x="5644079" y="4382453"/>
            <a:ext cx="664497" cy="238365"/>
          </a:xfrm>
          <a:prstGeom prst="fram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44326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HTML </a:t>
            </a:r>
            <a:r>
              <a:rPr lang="ko-KR" altLang="en-US" dirty="0" smtClean="0"/>
              <a:t>기본 구조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0" y="1600200"/>
            <a:ext cx="3505200" cy="4800600"/>
          </a:xfrm>
        </p:spPr>
        <p:txBody>
          <a:bodyPr>
            <a:normAutofit lnSpcReduction="10000"/>
          </a:bodyPr>
          <a:lstStyle/>
          <a:p>
            <a:r>
              <a:rPr lang="en-US" altLang="ko-KR" sz="1800" dirty="0" smtClean="0"/>
              <a:t>&lt;html&gt;</a:t>
            </a:r>
          </a:p>
          <a:p>
            <a:pPr lvl="1"/>
            <a:r>
              <a:rPr lang="en-US" altLang="ko-KR" sz="1600" dirty="0" smtClean="0"/>
              <a:t>HTML </a:t>
            </a:r>
            <a:r>
              <a:rPr lang="ko-KR" altLang="en-US" sz="1600" dirty="0" smtClean="0"/>
              <a:t>문서의 시작</a:t>
            </a:r>
            <a:endParaRPr lang="en-US" altLang="ko-KR" sz="1600" dirty="0" smtClean="0"/>
          </a:p>
          <a:p>
            <a:endParaRPr lang="en-US" altLang="ko-KR" sz="1800" dirty="0" smtClean="0"/>
          </a:p>
          <a:p>
            <a:r>
              <a:rPr lang="en-US" altLang="ko-KR" sz="1800" dirty="0" smtClean="0"/>
              <a:t>&lt;head&gt;&lt;/head&gt;</a:t>
            </a:r>
          </a:p>
          <a:p>
            <a:pPr lvl="1"/>
            <a:r>
              <a:rPr lang="ko-KR" altLang="en-US" sz="1600" dirty="0" smtClean="0"/>
              <a:t>머리 영역</a:t>
            </a:r>
            <a:endParaRPr lang="en-US" altLang="ko-KR" sz="1600" dirty="0" smtClean="0"/>
          </a:p>
          <a:p>
            <a:pPr lvl="2"/>
            <a:r>
              <a:rPr lang="ko-KR" altLang="en-US" sz="1400" dirty="0" smtClean="0"/>
              <a:t>제목</a:t>
            </a:r>
            <a:endParaRPr lang="en-US" altLang="ko-KR" sz="1400" dirty="0"/>
          </a:p>
          <a:p>
            <a:pPr lvl="2"/>
            <a:r>
              <a:rPr lang="en-US" altLang="ko-KR" sz="1400" dirty="0" smtClean="0"/>
              <a:t>HTML</a:t>
            </a:r>
            <a:r>
              <a:rPr lang="ko-KR" altLang="en-US" sz="1400" dirty="0" smtClean="0"/>
              <a:t>문서에 대한 정보 입력</a:t>
            </a:r>
            <a:endParaRPr lang="en-US" altLang="ko-KR" sz="1400" dirty="0" smtClean="0"/>
          </a:p>
          <a:p>
            <a:endParaRPr lang="en-US" altLang="ko-KR" sz="1800" dirty="0"/>
          </a:p>
          <a:p>
            <a:r>
              <a:rPr lang="en-US" altLang="ko-KR" sz="1800" dirty="0" smtClean="0"/>
              <a:t>&lt;meta charset=“</a:t>
            </a:r>
            <a:r>
              <a:rPr lang="en-US" altLang="ko-KR" sz="1800" dirty="0" err="1" smtClean="0"/>
              <a:t>euc-kr</a:t>
            </a:r>
            <a:r>
              <a:rPr lang="en-US" altLang="ko-KR" sz="1800" dirty="0" smtClean="0"/>
              <a:t>”&gt;</a:t>
            </a:r>
          </a:p>
          <a:p>
            <a:pPr lvl="1"/>
            <a:r>
              <a:rPr lang="ko-KR" altLang="en-US" sz="1600" dirty="0" smtClean="0"/>
              <a:t>문자열 </a:t>
            </a:r>
            <a:r>
              <a:rPr lang="ko-KR" altLang="en-US" sz="1600" dirty="0" err="1" smtClean="0"/>
              <a:t>인코딩</a:t>
            </a:r>
            <a:r>
              <a:rPr lang="ko-KR" altLang="en-US" sz="1600" dirty="0" smtClean="0"/>
              <a:t> 설정</a:t>
            </a:r>
            <a:endParaRPr lang="en-US" altLang="ko-KR" sz="1600" dirty="0" smtClean="0"/>
          </a:p>
          <a:p>
            <a:pPr lvl="1"/>
            <a:endParaRPr lang="en-US" altLang="ko-KR" sz="1600" dirty="0"/>
          </a:p>
          <a:p>
            <a:r>
              <a:rPr lang="en-US" altLang="ko-KR" sz="1800" dirty="0" smtClean="0"/>
              <a:t>&lt;title&gt;</a:t>
            </a:r>
          </a:p>
          <a:p>
            <a:pPr lvl="1"/>
            <a:r>
              <a:rPr lang="ko-KR" altLang="en-US" sz="1600" dirty="0" smtClean="0"/>
              <a:t>웹 페이지 제목</a:t>
            </a:r>
            <a:endParaRPr lang="en-US" altLang="ko-KR" sz="1600" dirty="0" smtClean="0"/>
          </a:p>
          <a:p>
            <a:pPr lvl="1"/>
            <a:endParaRPr lang="en-US" altLang="ko-KR" sz="1600" dirty="0"/>
          </a:p>
          <a:p>
            <a:r>
              <a:rPr lang="en-US" altLang="ko-KR" sz="1800" dirty="0" smtClean="0"/>
              <a:t>&lt;body&gt;</a:t>
            </a:r>
          </a:p>
          <a:p>
            <a:pPr lvl="1"/>
            <a:r>
              <a:rPr lang="ko-KR" altLang="en-US" sz="1600" dirty="0" smtClean="0"/>
              <a:t>본문 영역</a:t>
            </a:r>
            <a:endParaRPr lang="en-US" altLang="ko-KR" sz="1600" dirty="0" smtClean="0"/>
          </a:p>
          <a:p>
            <a:pPr lvl="2"/>
            <a:r>
              <a:rPr lang="ko-KR" altLang="en-US" sz="1400" dirty="0" smtClean="0"/>
              <a:t>내용</a:t>
            </a:r>
            <a:r>
              <a:rPr lang="ko-KR" altLang="en-US" sz="1400" dirty="0"/>
              <a:t>물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628800"/>
            <a:ext cx="3609975" cy="202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107557"/>
            <a:ext cx="3975597" cy="220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원호 11"/>
          <p:cNvSpPr/>
          <p:nvPr/>
        </p:nvSpPr>
        <p:spPr>
          <a:xfrm flipH="1">
            <a:off x="692533" y="1961657"/>
            <a:ext cx="432048" cy="726380"/>
          </a:xfrm>
          <a:prstGeom prst="arc">
            <a:avLst>
              <a:gd name="adj1" fmla="val 16200000"/>
              <a:gd name="adj2" fmla="val 5799499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자유형 15"/>
          <p:cNvSpPr/>
          <p:nvPr/>
        </p:nvSpPr>
        <p:spPr>
          <a:xfrm>
            <a:off x="134471" y="2268071"/>
            <a:ext cx="537882" cy="1874116"/>
          </a:xfrm>
          <a:custGeom>
            <a:avLst/>
            <a:gdLst>
              <a:gd name="connsiteX0" fmla="*/ 537882 w 537882"/>
              <a:gd name="connsiteY0" fmla="*/ 0 h 1874116"/>
              <a:gd name="connsiteX1" fmla="*/ 484094 w 537882"/>
              <a:gd name="connsiteY1" fmla="*/ 44823 h 1874116"/>
              <a:gd name="connsiteX2" fmla="*/ 457200 w 537882"/>
              <a:gd name="connsiteY2" fmla="*/ 62753 h 1874116"/>
              <a:gd name="connsiteX3" fmla="*/ 430305 w 537882"/>
              <a:gd name="connsiteY3" fmla="*/ 89647 h 1874116"/>
              <a:gd name="connsiteX4" fmla="*/ 331694 w 537882"/>
              <a:gd name="connsiteY4" fmla="*/ 179294 h 1874116"/>
              <a:gd name="connsiteX5" fmla="*/ 259976 w 537882"/>
              <a:gd name="connsiteY5" fmla="*/ 277905 h 1874116"/>
              <a:gd name="connsiteX6" fmla="*/ 197223 w 537882"/>
              <a:gd name="connsiteY6" fmla="*/ 358588 h 1874116"/>
              <a:gd name="connsiteX7" fmla="*/ 179294 w 537882"/>
              <a:gd name="connsiteY7" fmla="*/ 403411 h 1874116"/>
              <a:gd name="connsiteX8" fmla="*/ 152400 w 537882"/>
              <a:gd name="connsiteY8" fmla="*/ 439270 h 1874116"/>
              <a:gd name="connsiteX9" fmla="*/ 125505 w 537882"/>
              <a:gd name="connsiteY9" fmla="*/ 484094 h 1874116"/>
              <a:gd name="connsiteX10" fmla="*/ 80682 w 537882"/>
              <a:gd name="connsiteY10" fmla="*/ 582705 h 1874116"/>
              <a:gd name="connsiteX11" fmla="*/ 53788 w 537882"/>
              <a:gd name="connsiteY11" fmla="*/ 627529 h 1874116"/>
              <a:gd name="connsiteX12" fmla="*/ 44823 w 537882"/>
              <a:gd name="connsiteY12" fmla="*/ 672353 h 1874116"/>
              <a:gd name="connsiteX13" fmla="*/ 17929 w 537882"/>
              <a:gd name="connsiteY13" fmla="*/ 744070 h 1874116"/>
              <a:gd name="connsiteX14" fmla="*/ 0 w 537882"/>
              <a:gd name="connsiteY14" fmla="*/ 815788 h 1874116"/>
              <a:gd name="connsiteX15" fmla="*/ 8964 w 537882"/>
              <a:gd name="connsiteY15" fmla="*/ 923364 h 1874116"/>
              <a:gd name="connsiteX16" fmla="*/ 17929 w 537882"/>
              <a:gd name="connsiteY16" fmla="*/ 959223 h 1874116"/>
              <a:gd name="connsiteX17" fmla="*/ 26894 w 537882"/>
              <a:gd name="connsiteY17" fmla="*/ 1030941 h 1874116"/>
              <a:gd name="connsiteX18" fmla="*/ 35858 w 537882"/>
              <a:gd name="connsiteY18" fmla="*/ 1156447 h 1874116"/>
              <a:gd name="connsiteX19" fmla="*/ 53788 w 537882"/>
              <a:gd name="connsiteY19" fmla="*/ 1219200 h 1874116"/>
              <a:gd name="connsiteX20" fmla="*/ 62753 w 537882"/>
              <a:gd name="connsiteY20" fmla="*/ 1290917 h 1874116"/>
              <a:gd name="connsiteX21" fmla="*/ 89647 w 537882"/>
              <a:gd name="connsiteY21" fmla="*/ 1353670 h 1874116"/>
              <a:gd name="connsiteX22" fmla="*/ 116541 w 537882"/>
              <a:gd name="connsiteY22" fmla="*/ 1443317 h 1874116"/>
              <a:gd name="connsiteX23" fmla="*/ 134470 w 537882"/>
              <a:gd name="connsiteY23" fmla="*/ 1497105 h 1874116"/>
              <a:gd name="connsiteX24" fmla="*/ 143435 w 537882"/>
              <a:gd name="connsiteY24" fmla="*/ 1524000 h 1874116"/>
              <a:gd name="connsiteX25" fmla="*/ 161364 w 537882"/>
              <a:gd name="connsiteY25" fmla="*/ 1559858 h 1874116"/>
              <a:gd name="connsiteX26" fmla="*/ 179294 w 537882"/>
              <a:gd name="connsiteY26" fmla="*/ 1613647 h 1874116"/>
              <a:gd name="connsiteX27" fmla="*/ 188258 w 537882"/>
              <a:gd name="connsiteY27" fmla="*/ 1640541 h 1874116"/>
              <a:gd name="connsiteX28" fmla="*/ 206188 w 537882"/>
              <a:gd name="connsiteY28" fmla="*/ 1658470 h 1874116"/>
              <a:gd name="connsiteX29" fmla="*/ 242047 w 537882"/>
              <a:gd name="connsiteY29" fmla="*/ 1721223 h 1874116"/>
              <a:gd name="connsiteX30" fmla="*/ 259976 w 537882"/>
              <a:gd name="connsiteY30" fmla="*/ 1739153 h 1874116"/>
              <a:gd name="connsiteX31" fmla="*/ 295835 w 537882"/>
              <a:gd name="connsiteY31" fmla="*/ 1783976 h 1874116"/>
              <a:gd name="connsiteX32" fmla="*/ 349623 w 537882"/>
              <a:gd name="connsiteY32" fmla="*/ 1855694 h 1874116"/>
              <a:gd name="connsiteX33" fmla="*/ 385482 w 537882"/>
              <a:gd name="connsiteY33" fmla="*/ 1873623 h 1874116"/>
              <a:gd name="connsiteX34" fmla="*/ 394447 w 537882"/>
              <a:gd name="connsiteY34" fmla="*/ 1873623 h 1874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37882" h="1874116">
                <a:moveTo>
                  <a:pt x="537882" y="0"/>
                </a:moveTo>
                <a:cubicBezTo>
                  <a:pt x="519953" y="14941"/>
                  <a:pt x="502516" y="30494"/>
                  <a:pt x="484094" y="44823"/>
                </a:cubicBezTo>
                <a:cubicBezTo>
                  <a:pt x="475589" y="51438"/>
                  <a:pt x="465477" y="55855"/>
                  <a:pt x="457200" y="62753"/>
                </a:cubicBezTo>
                <a:cubicBezTo>
                  <a:pt x="447460" y="70869"/>
                  <a:pt x="439931" y="81396"/>
                  <a:pt x="430305" y="89647"/>
                </a:cubicBezTo>
                <a:cubicBezTo>
                  <a:pt x="389664" y="124482"/>
                  <a:pt x="367627" y="125396"/>
                  <a:pt x="331694" y="179294"/>
                </a:cubicBezTo>
                <a:cubicBezTo>
                  <a:pt x="229665" y="332336"/>
                  <a:pt x="358628" y="142259"/>
                  <a:pt x="259976" y="277905"/>
                </a:cubicBezTo>
                <a:cubicBezTo>
                  <a:pt x="202785" y="356542"/>
                  <a:pt x="247767" y="308044"/>
                  <a:pt x="197223" y="358588"/>
                </a:cubicBezTo>
                <a:cubicBezTo>
                  <a:pt x="191247" y="373529"/>
                  <a:pt x="187109" y="389344"/>
                  <a:pt x="179294" y="403411"/>
                </a:cubicBezTo>
                <a:cubicBezTo>
                  <a:pt x="172038" y="416472"/>
                  <a:pt x="160688" y="426838"/>
                  <a:pt x="152400" y="439270"/>
                </a:cubicBezTo>
                <a:cubicBezTo>
                  <a:pt x="142735" y="453768"/>
                  <a:pt x="133849" y="468797"/>
                  <a:pt x="125505" y="484094"/>
                </a:cubicBezTo>
                <a:cubicBezTo>
                  <a:pt x="30701" y="657899"/>
                  <a:pt x="154794" y="434478"/>
                  <a:pt x="80682" y="582705"/>
                </a:cubicBezTo>
                <a:cubicBezTo>
                  <a:pt x="72890" y="598290"/>
                  <a:pt x="62753" y="612588"/>
                  <a:pt x="53788" y="627529"/>
                </a:cubicBezTo>
                <a:cubicBezTo>
                  <a:pt x="50800" y="642470"/>
                  <a:pt x="49201" y="657758"/>
                  <a:pt x="44823" y="672353"/>
                </a:cubicBezTo>
                <a:cubicBezTo>
                  <a:pt x="17665" y="762881"/>
                  <a:pt x="35342" y="680223"/>
                  <a:pt x="17929" y="744070"/>
                </a:cubicBezTo>
                <a:cubicBezTo>
                  <a:pt x="11445" y="767843"/>
                  <a:pt x="0" y="815788"/>
                  <a:pt x="0" y="815788"/>
                </a:cubicBezTo>
                <a:cubicBezTo>
                  <a:pt x="2988" y="851647"/>
                  <a:pt x="4501" y="887659"/>
                  <a:pt x="8964" y="923364"/>
                </a:cubicBezTo>
                <a:cubicBezTo>
                  <a:pt x="10492" y="935590"/>
                  <a:pt x="15903" y="947070"/>
                  <a:pt x="17929" y="959223"/>
                </a:cubicBezTo>
                <a:cubicBezTo>
                  <a:pt x="21890" y="982987"/>
                  <a:pt x="24713" y="1006948"/>
                  <a:pt x="26894" y="1030941"/>
                </a:cubicBezTo>
                <a:cubicBezTo>
                  <a:pt x="30691" y="1072711"/>
                  <a:pt x="31226" y="1114762"/>
                  <a:pt x="35858" y="1156447"/>
                </a:cubicBezTo>
                <a:cubicBezTo>
                  <a:pt x="37734" y="1173329"/>
                  <a:pt x="48122" y="1202203"/>
                  <a:pt x="53788" y="1219200"/>
                </a:cubicBezTo>
                <a:cubicBezTo>
                  <a:pt x="56776" y="1243106"/>
                  <a:pt x="58443" y="1267214"/>
                  <a:pt x="62753" y="1290917"/>
                </a:cubicBezTo>
                <a:cubicBezTo>
                  <a:pt x="66522" y="1311649"/>
                  <a:pt x="80814" y="1336004"/>
                  <a:pt x="89647" y="1353670"/>
                </a:cubicBezTo>
                <a:cubicBezTo>
                  <a:pt x="104249" y="1426685"/>
                  <a:pt x="90331" y="1371239"/>
                  <a:pt x="116541" y="1443317"/>
                </a:cubicBezTo>
                <a:cubicBezTo>
                  <a:pt x="123000" y="1461078"/>
                  <a:pt x="128494" y="1479176"/>
                  <a:pt x="134470" y="1497105"/>
                </a:cubicBezTo>
                <a:cubicBezTo>
                  <a:pt x="137458" y="1506070"/>
                  <a:pt x="139209" y="1515548"/>
                  <a:pt x="143435" y="1524000"/>
                </a:cubicBezTo>
                <a:cubicBezTo>
                  <a:pt x="149411" y="1535953"/>
                  <a:pt x="156401" y="1547450"/>
                  <a:pt x="161364" y="1559858"/>
                </a:cubicBezTo>
                <a:cubicBezTo>
                  <a:pt x="168383" y="1577406"/>
                  <a:pt x="173318" y="1595717"/>
                  <a:pt x="179294" y="1613647"/>
                </a:cubicBezTo>
                <a:cubicBezTo>
                  <a:pt x="182282" y="1622612"/>
                  <a:pt x="181576" y="1633859"/>
                  <a:pt x="188258" y="1640541"/>
                </a:cubicBezTo>
                <a:lnTo>
                  <a:pt x="206188" y="1658470"/>
                </a:lnTo>
                <a:cubicBezTo>
                  <a:pt x="218461" y="1683016"/>
                  <a:pt x="225149" y="1700100"/>
                  <a:pt x="242047" y="1721223"/>
                </a:cubicBezTo>
                <a:cubicBezTo>
                  <a:pt x="247327" y="1727823"/>
                  <a:pt x="254000" y="1733176"/>
                  <a:pt x="259976" y="1739153"/>
                </a:cubicBezTo>
                <a:cubicBezTo>
                  <a:pt x="280165" y="1799718"/>
                  <a:pt x="252166" y="1734069"/>
                  <a:pt x="295835" y="1783976"/>
                </a:cubicBezTo>
                <a:cubicBezTo>
                  <a:pt x="307594" y="1797415"/>
                  <a:pt x="327749" y="1841111"/>
                  <a:pt x="349623" y="1855694"/>
                </a:cubicBezTo>
                <a:cubicBezTo>
                  <a:pt x="360742" y="1863107"/>
                  <a:pt x="373074" y="1868660"/>
                  <a:pt x="385482" y="1873623"/>
                </a:cubicBezTo>
                <a:cubicBezTo>
                  <a:pt x="388257" y="1874733"/>
                  <a:pt x="391459" y="1873623"/>
                  <a:pt x="394447" y="1873623"/>
                </a:cubicBezTo>
              </a:path>
            </a:pathLst>
          </a:cu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액자 16"/>
          <p:cNvSpPr/>
          <p:nvPr/>
        </p:nvSpPr>
        <p:spPr>
          <a:xfrm>
            <a:off x="458579" y="4031959"/>
            <a:ext cx="3975597" cy="504056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" name="원호 19"/>
          <p:cNvSpPr/>
          <p:nvPr/>
        </p:nvSpPr>
        <p:spPr>
          <a:xfrm>
            <a:off x="1480443" y="2831473"/>
            <a:ext cx="643285" cy="525519"/>
          </a:xfrm>
          <a:prstGeom prst="arc">
            <a:avLst>
              <a:gd name="adj1" fmla="val 16200000"/>
              <a:gd name="adj2" fmla="val 5799499"/>
            </a:avLst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자유형 17"/>
          <p:cNvSpPr/>
          <p:nvPr/>
        </p:nvSpPr>
        <p:spPr>
          <a:xfrm>
            <a:off x="2151529" y="3065929"/>
            <a:ext cx="2609337" cy="1676400"/>
          </a:xfrm>
          <a:custGeom>
            <a:avLst/>
            <a:gdLst>
              <a:gd name="connsiteX0" fmla="*/ 0 w 2609337"/>
              <a:gd name="connsiteY0" fmla="*/ 0 h 1676400"/>
              <a:gd name="connsiteX1" fmla="*/ 340659 w 2609337"/>
              <a:gd name="connsiteY1" fmla="*/ 17930 h 1676400"/>
              <a:gd name="connsiteX2" fmla="*/ 573742 w 2609337"/>
              <a:gd name="connsiteY2" fmla="*/ 44824 h 1676400"/>
              <a:gd name="connsiteX3" fmla="*/ 690283 w 2609337"/>
              <a:gd name="connsiteY3" fmla="*/ 71718 h 1676400"/>
              <a:gd name="connsiteX4" fmla="*/ 968189 w 2609337"/>
              <a:gd name="connsiteY4" fmla="*/ 125506 h 1676400"/>
              <a:gd name="connsiteX5" fmla="*/ 1111624 w 2609337"/>
              <a:gd name="connsiteY5" fmla="*/ 170330 h 1676400"/>
              <a:gd name="connsiteX6" fmla="*/ 1174377 w 2609337"/>
              <a:gd name="connsiteY6" fmla="*/ 188259 h 1676400"/>
              <a:gd name="connsiteX7" fmla="*/ 1246095 w 2609337"/>
              <a:gd name="connsiteY7" fmla="*/ 215153 h 1676400"/>
              <a:gd name="connsiteX8" fmla="*/ 1380565 w 2609337"/>
              <a:gd name="connsiteY8" fmla="*/ 251012 h 1676400"/>
              <a:gd name="connsiteX9" fmla="*/ 1434353 w 2609337"/>
              <a:gd name="connsiteY9" fmla="*/ 259977 h 1676400"/>
              <a:gd name="connsiteX10" fmla="*/ 1497106 w 2609337"/>
              <a:gd name="connsiteY10" fmla="*/ 277906 h 1676400"/>
              <a:gd name="connsiteX11" fmla="*/ 1532965 w 2609337"/>
              <a:gd name="connsiteY11" fmla="*/ 286871 h 1676400"/>
              <a:gd name="connsiteX12" fmla="*/ 1577789 w 2609337"/>
              <a:gd name="connsiteY12" fmla="*/ 295836 h 1676400"/>
              <a:gd name="connsiteX13" fmla="*/ 1631577 w 2609337"/>
              <a:gd name="connsiteY13" fmla="*/ 313765 h 1676400"/>
              <a:gd name="connsiteX14" fmla="*/ 1667436 w 2609337"/>
              <a:gd name="connsiteY14" fmla="*/ 322730 h 1676400"/>
              <a:gd name="connsiteX15" fmla="*/ 1721224 w 2609337"/>
              <a:gd name="connsiteY15" fmla="*/ 340659 h 1676400"/>
              <a:gd name="connsiteX16" fmla="*/ 1757083 w 2609337"/>
              <a:gd name="connsiteY16" fmla="*/ 349624 h 1676400"/>
              <a:gd name="connsiteX17" fmla="*/ 1810871 w 2609337"/>
              <a:gd name="connsiteY17" fmla="*/ 367553 h 1676400"/>
              <a:gd name="connsiteX18" fmla="*/ 1900518 w 2609337"/>
              <a:gd name="connsiteY18" fmla="*/ 376518 h 1676400"/>
              <a:gd name="connsiteX19" fmla="*/ 1990165 w 2609337"/>
              <a:gd name="connsiteY19" fmla="*/ 403412 h 1676400"/>
              <a:gd name="connsiteX20" fmla="*/ 2017059 w 2609337"/>
              <a:gd name="connsiteY20" fmla="*/ 412377 h 1676400"/>
              <a:gd name="connsiteX21" fmla="*/ 2070847 w 2609337"/>
              <a:gd name="connsiteY21" fmla="*/ 421342 h 1676400"/>
              <a:gd name="connsiteX22" fmla="*/ 2115671 w 2609337"/>
              <a:gd name="connsiteY22" fmla="*/ 430306 h 1676400"/>
              <a:gd name="connsiteX23" fmla="*/ 2151530 w 2609337"/>
              <a:gd name="connsiteY23" fmla="*/ 439271 h 1676400"/>
              <a:gd name="connsiteX24" fmla="*/ 2232212 w 2609337"/>
              <a:gd name="connsiteY24" fmla="*/ 466165 h 1676400"/>
              <a:gd name="connsiteX25" fmla="*/ 2286000 w 2609337"/>
              <a:gd name="connsiteY25" fmla="*/ 475130 h 1676400"/>
              <a:gd name="connsiteX26" fmla="*/ 2330824 w 2609337"/>
              <a:gd name="connsiteY26" fmla="*/ 493059 h 1676400"/>
              <a:gd name="connsiteX27" fmla="*/ 2357718 w 2609337"/>
              <a:gd name="connsiteY27" fmla="*/ 502024 h 1676400"/>
              <a:gd name="connsiteX28" fmla="*/ 2393577 w 2609337"/>
              <a:gd name="connsiteY28" fmla="*/ 537883 h 1676400"/>
              <a:gd name="connsiteX29" fmla="*/ 2420471 w 2609337"/>
              <a:gd name="connsiteY29" fmla="*/ 555812 h 1676400"/>
              <a:gd name="connsiteX30" fmla="*/ 2438400 w 2609337"/>
              <a:gd name="connsiteY30" fmla="*/ 582706 h 1676400"/>
              <a:gd name="connsiteX31" fmla="*/ 2456330 w 2609337"/>
              <a:gd name="connsiteY31" fmla="*/ 600636 h 1676400"/>
              <a:gd name="connsiteX32" fmla="*/ 2501153 w 2609337"/>
              <a:gd name="connsiteY32" fmla="*/ 663389 h 1676400"/>
              <a:gd name="connsiteX33" fmla="*/ 2510118 w 2609337"/>
              <a:gd name="connsiteY33" fmla="*/ 699247 h 1676400"/>
              <a:gd name="connsiteX34" fmla="*/ 2528047 w 2609337"/>
              <a:gd name="connsiteY34" fmla="*/ 717177 h 1676400"/>
              <a:gd name="connsiteX35" fmla="*/ 2545977 w 2609337"/>
              <a:gd name="connsiteY35" fmla="*/ 770965 h 1676400"/>
              <a:gd name="connsiteX36" fmla="*/ 2563906 w 2609337"/>
              <a:gd name="connsiteY36" fmla="*/ 815789 h 1676400"/>
              <a:gd name="connsiteX37" fmla="*/ 2572871 w 2609337"/>
              <a:gd name="connsiteY37" fmla="*/ 860612 h 1676400"/>
              <a:gd name="connsiteX38" fmla="*/ 2581836 w 2609337"/>
              <a:gd name="connsiteY38" fmla="*/ 887506 h 1676400"/>
              <a:gd name="connsiteX39" fmla="*/ 2599765 w 2609337"/>
              <a:gd name="connsiteY39" fmla="*/ 950259 h 1676400"/>
              <a:gd name="connsiteX40" fmla="*/ 2599765 w 2609337"/>
              <a:gd name="connsiteY40" fmla="*/ 1129553 h 1676400"/>
              <a:gd name="connsiteX41" fmla="*/ 2590800 w 2609337"/>
              <a:gd name="connsiteY41" fmla="*/ 1156447 h 1676400"/>
              <a:gd name="connsiteX42" fmla="*/ 2572871 w 2609337"/>
              <a:gd name="connsiteY42" fmla="*/ 1174377 h 1676400"/>
              <a:gd name="connsiteX43" fmla="*/ 2537012 w 2609337"/>
              <a:gd name="connsiteY43" fmla="*/ 1255059 h 1676400"/>
              <a:gd name="connsiteX44" fmla="*/ 2519083 w 2609337"/>
              <a:gd name="connsiteY44" fmla="*/ 1317812 h 1676400"/>
              <a:gd name="connsiteX45" fmla="*/ 2501153 w 2609337"/>
              <a:gd name="connsiteY45" fmla="*/ 1335742 h 1676400"/>
              <a:gd name="connsiteX46" fmla="*/ 2474259 w 2609337"/>
              <a:gd name="connsiteY46" fmla="*/ 1389530 h 1676400"/>
              <a:gd name="connsiteX47" fmla="*/ 2447365 w 2609337"/>
              <a:gd name="connsiteY47" fmla="*/ 1434353 h 1676400"/>
              <a:gd name="connsiteX48" fmla="*/ 2429436 w 2609337"/>
              <a:gd name="connsiteY48" fmla="*/ 1470212 h 1676400"/>
              <a:gd name="connsiteX49" fmla="*/ 2384612 w 2609337"/>
              <a:gd name="connsiteY49" fmla="*/ 1568824 h 1676400"/>
              <a:gd name="connsiteX50" fmla="*/ 2366683 w 2609337"/>
              <a:gd name="connsiteY50" fmla="*/ 1595718 h 1676400"/>
              <a:gd name="connsiteX51" fmla="*/ 2294965 w 2609337"/>
              <a:gd name="connsiteY51" fmla="*/ 1676400 h 167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2609337" h="1676400">
                <a:moveTo>
                  <a:pt x="0" y="0"/>
                </a:moveTo>
                <a:cubicBezTo>
                  <a:pt x="116162" y="4468"/>
                  <a:pt x="226350" y="5229"/>
                  <a:pt x="340659" y="17930"/>
                </a:cubicBezTo>
                <a:cubicBezTo>
                  <a:pt x="691758" y="56941"/>
                  <a:pt x="295859" y="19561"/>
                  <a:pt x="573742" y="44824"/>
                </a:cubicBezTo>
                <a:cubicBezTo>
                  <a:pt x="612589" y="53789"/>
                  <a:pt x="651148" y="64108"/>
                  <a:pt x="690283" y="71718"/>
                </a:cubicBezTo>
                <a:cubicBezTo>
                  <a:pt x="895153" y="111554"/>
                  <a:pt x="837834" y="90745"/>
                  <a:pt x="968189" y="125506"/>
                </a:cubicBezTo>
                <a:cubicBezTo>
                  <a:pt x="1056123" y="148955"/>
                  <a:pt x="1013010" y="139513"/>
                  <a:pt x="1111624" y="170330"/>
                </a:cubicBezTo>
                <a:cubicBezTo>
                  <a:pt x="1132388" y="176819"/>
                  <a:pt x="1153739" y="181380"/>
                  <a:pt x="1174377" y="188259"/>
                </a:cubicBezTo>
                <a:cubicBezTo>
                  <a:pt x="1198598" y="196333"/>
                  <a:pt x="1221874" y="207079"/>
                  <a:pt x="1246095" y="215153"/>
                </a:cubicBezTo>
                <a:cubicBezTo>
                  <a:pt x="1273392" y="224252"/>
                  <a:pt x="1354741" y="245478"/>
                  <a:pt x="1380565" y="251012"/>
                </a:cubicBezTo>
                <a:cubicBezTo>
                  <a:pt x="1398338" y="254821"/>
                  <a:pt x="1416642" y="255890"/>
                  <a:pt x="1434353" y="259977"/>
                </a:cubicBezTo>
                <a:cubicBezTo>
                  <a:pt x="1455551" y="264869"/>
                  <a:pt x="1476118" y="272182"/>
                  <a:pt x="1497106" y="277906"/>
                </a:cubicBezTo>
                <a:cubicBezTo>
                  <a:pt x="1508993" y="281148"/>
                  <a:pt x="1520938" y="284198"/>
                  <a:pt x="1532965" y="286871"/>
                </a:cubicBezTo>
                <a:cubicBezTo>
                  <a:pt x="1547839" y="290177"/>
                  <a:pt x="1563089" y="291827"/>
                  <a:pt x="1577789" y="295836"/>
                </a:cubicBezTo>
                <a:cubicBezTo>
                  <a:pt x="1596022" y="300809"/>
                  <a:pt x="1613475" y="308334"/>
                  <a:pt x="1631577" y="313765"/>
                </a:cubicBezTo>
                <a:cubicBezTo>
                  <a:pt x="1643378" y="317305"/>
                  <a:pt x="1655635" y="319190"/>
                  <a:pt x="1667436" y="322730"/>
                </a:cubicBezTo>
                <a:cubicBezTo>
                  <a:pt x="1685538" y="328161"/>
                  <a:pt x="1703122" y="335228"/>
                  <a:pt x="1721224" y="340659"/>
                </a:cubicBezTo>
                <a:cubicBezTo>
                  <a:pt x="1733025" y="344199"/>
                  <a:pt x="1745282" y="346084"/>
                  <a:pt x="1757083" y="349624"/>
                </a:cubicBezTo>
                <a:cubicBezTo>
                  <a:pt x="1775185" y="355055"/>
                  <a:pt x="1792296" y="364070"/>
                  <a:pt x="1810871" y="367553"/>
                </a:cubicBezTo>
                <a:cubicBezTo>
                  <a:pt x="1840388" y="373087"/>
                  <a:pt x="1870636" y="373530"/>
                  <a:pt x="1900518" y="376518"/>
                </a:cubicBezTo>
                <a:cubicBezTo>
                  <a:pt x="2028365" y="419133"/>
                  <a:pt x="1895310" y="376310"/>
                  <a:pt x="1990165" y="403412"/>
                </a:cubicBezTo>
                <a:cubicBezTo>
                  <a:pt x="1999251" y="406008"/>
                  <a:pt x="2007834" y="410327"/>
                  <a:pt x="2017059" y="412377"/>
                </a:cubicBezTo>
                <a:cubicBezTo>
                  <a:pt x="2034803" y="416320"/>
                  <a:pt x="2052964" y="418091"/>
                  <a:pt x="2070847" y="421342"/>
                </a:cubicBezTo>
                <a:cubicBezTo>
                  <a:pt x="2085838" y="424068"/>
                  <a:pt x="2100797" y="427001"/>
                  <a:pt x="2115671" y="430306"/>
                </a:cubicBezTo>
                <a:cubicBezTo>
                  <a:pt x="2127699" y="432979"/>
                  <a:pt x="2139754" y="435648"/>
                  <a:pt x="2151530" y="439271"/>
                </a:cubicBezTo>
                <a:cubicBezTo>
                  <a:pt x="2178625" y="447608"/>
                  <a:pt x="2204249" y="461504"/>
                  <a:pt x="2232212" y="466165"/>
                </a:cubicBezTo>
                <a:lnTo>
                  <a:pt x="2286000" y="475130"/>
                </a:lnTo>
                <a:cubicBezTo>
                  <a:pt x="2300941" y="481106"/>
                  <a:pt x="2315756" y="487409"/>
                  <a:pt x="2330824" y="493059"/>
                </a:cubicBezTo>
                <a:cubicBezTo>
                  <a:pt x="2339672" y="496377"/>
                  <a:pt x="2350029" y="496531"/>
                  <a:pt x="2357718" y="502024"/>
                </a:cubicBezTo>
                <a:cubicBezTo>
                  <a:pt x="2371473" y="511849"/>
                  <a:pt x="2380742" y="526882"/>
                  <a:pt x="2393577" y="537883"/>
                </a:cubicBezTo>
                <a:cubicBezTo>
                  <a:pt x="2401757" y="544895"/>
                  <a:pt x="2411506" y="549836"/>
                  <a:pt x="2420471" y="555812"/>
                </a:cubicBezTo>
                <a:cubicBezTo>
                  <a:pt x="2426447" y="564777"/>
                  <a:pt x="2431669" y="574293"/>
                  <a:pt x="2438400" y="582706"/>
                </a:cubicBezTo>
                <a:cubicBezTo>
                  <a:pt x="2443680" y="589306"/>
                  <a:pt x="2451417" y="593758"/>
                  <a:pt x="2456330" y="600636"/>
                </a:cubicBezTo>
                <a:cubicBezTo>
                  <a:pt x="2508405" y="673540"/>
                  <a:pt x="2460798" y="623032"/>
                  <a:pt x="2501153" y="663389"/>
                </a:cubicBezTo>
                <a:cubicBezTo>
                  <a:pt x="2504141" y="675342"/>
                  <a:pt x="2504608" y="688227"/>
                  <a:pt x="2510118" y="699247"/>
                </a:cubicBezTo>
                <a:cubicBezTo>
                  <a:pt x="2513898" y="706807"/>
                  <a:pt x="2524267" y="709617"/>
                  <a:pt x="2528047" y="717177"/>
                </a:cubicBezTo>
                <a:cubicBezTo>
                  <a:pt x="2536499" y="734081"/>
                  <a:pt x="2538958" y="753417"/>
                  <a:pt x="2545977" y="770965"/>
                </a:cubicBezTo>
                <a:cubicBezTo>
                  <a:pt x="2551953" y="785906"/>
                  <a:pt x="2559282" y="800375"/>
                  <a:pt x="2563906" y="815789"/>
                </a:cubicBezTo>
                <a:cubicBezTo>
                  <a:pt x="2568284" y="830383"/>
                  <a:pt x="2569175" y="845830"/>
                  <a:pt x="2572871" y="860612"/>
                </a:cubicBezTo>
                <a:cubicBezTo>
                  <a:pt x="2575163" y="869779"/>
                  <a:pt x="2579240" y="878420"/>
                  <a:pt x="2581836" y="887506"/>
                </a:cubicBezTo>
                <a:cubicBezTo>
                  <a:pt x="2604349" y="966302"/>
                  <a:pt x="2578270" y="885776"/>
                  <a:pt x="2599765" y="950259"/>
                </a:cubicBezTo>
                <a:cubicBezTo>
                  <a:pt x="2611062" y="1040630"/>
                  <a:pt x="2613914" y="1023436"/>
                  <a:pt x="2599765" y="1129553"/>
                </a:cubicBezTo>
                <a:cubicBezTo>
                  <a:pt x="2598516" y="1138920"/>
                  <a:pt x="2595662" y="1148344"/>
                  <a:pt x="2590800" y="1156447"/>
                </a:cubicBezTo>
                <a:cubicBezTo>
                  <a:pt x="2586452" y="1163695"/>
                  <a:pt x="2578847" y="1168400"/>
                  <a:pt x="2572871" y="1174377"/>
                </a:cubicBezTo>
                <a:cubicBezTo>
                  <a:pt x="2551535" y="1238386"/>
                  <a:pt x="2565426" y="1212440"/>
                  <a:pt x="2537012" y="1255059"/>
                </a:cubicBezTo>
                <a:cubicBezTo>
                  <a:pt x="2535339" y="1261752"/>
                  <a:pt x="2524593" y="1308629"/>
                  <a:pt x="2519083" y="1317812"/>
                </a:cubicBezTo>
                <a:cubicBezTo>
                  <a:pt x="2514734" y="1325060"/>
                  <a:pt x="2507130" y="1329765"/>
                  <a:pt x="2501153" y="1335742"/>
                </a:cubicBezTo>
                <a:cubicBezTo>
                  <a:pt x="2478622" y="1403340"/>
                  <a:pt x="2509015" y="1320017"/>
                  <a:pt x="2474259" y="1389530"/>
                </a:cubicBezTo>
                <a:cubicBezTo>
                  <a:pt x="2450984" y="1436080"/>
                  <a:pt x="2482387" y="1399333"/>
                  <a:pt x="2447365" y="1434353"/>
                </a:cubicBezTo>
                <a:cubicBezTo>
                  <a:pt x="2441389" y="1446306"/>
                  <a:pt x="2434700" y="1457929"/>
                  <a:pt x="2429436" y="1470212"/>
                </a:cubicBezTo>
                <a:cubicBezTo>
                  <a:pt x="2406590" y="1523519"/>
                  <a:pt x="2440051" y="1485663"/>
                  <a:pt x="2384612" y="1568824"/>
                </a:cubicBezTo>
                <a:cubicBezTo>
                  <a:pt x="2378636" y="1577789"/>
                  <a:pt x="2373930" y="1587746"/>
                  <a:pt x="2366683" y="1595718"/>
                </a:cubicBezTo>
                <a:cubicBezTo>
                  <a:pt x="2292852" y="1676932"/>
                  <a:pt x="2294965" y="1632975"/>
                  <a:pt x="2294965" y="1676400"/>
                </a:cubicBezTo>
              </a:path>
            </a:pathLst>
          </a:cu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액자 18"/>
          <p:cNvSpPr/>
          <p:nvPr/>
        </p:nvSpPr>
        <p:spPr>
          <a:xfrm>
            <a:off x="458579" y="4473260"/>
            <a:ext cx="3984562" cy="1836060"/>
          </a:xfrm>
          <a:prstGeom prst="frame">
            <a:avLst>
              <a:gd name="adj1" fmla="val 3906"/>
            </a:avLst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21695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&lt;meta&gt;</a:t>
            </a:r>
            <a:r>
              <a:rPr lang="ko-KR" altLang="en-US" dirty="0" smtClean="0"/>
              <a:t>의 활용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검색엔진이 검색 할 때 메타태그에서 키워드를 검색</a:t>
            </a:r>
            <a:endParaRPr lang="en-US" altLang="ko-KR" dirty="0" smtClean="0"/>
          </a:p>
          <a:p>
            <a:r>
              <a:rPr lang="en-US" altLang="ko-KR" dirty="0" smtClean="0"/>
              <a:t>HTML</a:t>
            </a:r>
            <a:r>
              <a:rPr lang="ko-KR" altLang="en-US" dirty="0" smtClean="0"/>
              <a:t>문서 설정에도 사용</a:t>
            </a:r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492896"/>
            <a:ext cx="7229623" cy="2194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7571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&lt;body&gt;</a:t>
            </a:r>
            <a:r>
              <a:rPr lang="ko-KR" altLang="en-US" dirty="0" smtClean="0"/>
              <a:t>의 속성</a:t>
            </a:r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배경색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글자색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132856"/>
            <a:ext cx="45339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996952"/>
            <a:ext cx="5486400" cy="303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48348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색깔 사용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색깔이</a:t>
            </a:r>
            <a:r>
              <a:rPr lang="ko-KR" altLang="en-US" dirty="0"/>
              <a:t>름</a:t>
            </a:r>
            <a:endParaRPr lang="en-US" altLang="ko-KR" dirty="0" smtClean="0"/>
          </a:p>
          <a:p>
            <a:pPr lvl="1"/>
            <a:r>
              <a:rPr lang="en-US" altLang="ko-KR" dirty="0" smtClean="0">
                <a:solidFill>
                  <a:schemeClr val="tx2"/>
                </a:solidFill>
              </a:rPr>
              <a:t>“red”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16</a:t>
            </a:r>
            <a:r>
              <a:rPr lang="ko-KR" altLang="en-US" dirty="0" smtClean="0"/>
              <a:t>진수</a:t>
            </a:r>
            <a:endParaRPr lang="en-US" altLang="ko-KR" dirty="0"/>
          </a:p>
          <a:p>
            <a:pPr lvl="1"/>
            <a:r>
              <a:rPr lang="en-US" altLang="ko-KR" dirty="0" smtClean="0">
                <a:solidFill>
                  <a:schemeClr val="tx2"/>
                </a:solidFill>
              </a:rPr>
              <a:t>“#RRGGBB”</a:t>
            </a:r>
          </a:p>
          <a:p>
            <a:pPr lvl="1"/>
            <a:r>
              <a:rPr lang="en-US" altLang="ko-KR" dirty="0" smtClean="0"/>
              <a:t>00~FF</a:t>
            </a:r>
            <a:r>
              <a:rPr lang="ko-KR" altLang="en-US" dirty="0" smtClean="0"/>
              <a:t>까지 사용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색깔을 얼마나 섞을 지 표시</a:t>
            </a:r>
            <a:endParaRPr lang="en-US" altLang="ko-KR" dirty="0" smtClean="0"/>
          </a:p>
          <a:p>
            <a:pPr lvl="1"/>
            <a:r>
              <a:rPr lang="ko-KR" altLang="en-US" dirty="0"/>
              <a:t>빛</a:t>
            </a:r>
          </a:p>
        </p:txBody>
      </p:sp>
    </p:spTree>
    <p:extLst>
      <p:ext uri="{BB962C8B-B14F-4D97-AF65-F5344CB8AC3E}">
        <p14:creationId xmlns:p14="http://schemas.microsoft.com/office/powerpoint/2010/main" val="13166801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&lt;body&gt;</a:t>
            </a:r>
            <a:r>
              <a:rPr lang="ko-KR" altLang="en-US" dirty="0" smtClean="0"/>
              <a:t>의 속성</a:t>
            </a:r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배경 그림</a:t>
            </a:r>
            <a:endParaRPr lang="ko-KR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988840"/>
            <a:ext cx="2943225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852936"/>
            <a:ext cx="5486400" cy="303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6956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파일 사용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절대 경로</a:t>
            </a:r>
            <a:r>
              <a:rPr lang="en-US" altLang="ko-KR" dirty="0" smtClean="0"/>
              <a:t>1 – </a:t>
            </a:r>
            <a:r>
              <a:rPr lang="ko-KR" altLang="en-US" dirty="0" smtClean="0"/>
              <a:t>웹 서버에 있는 파일의 </a:t>
            </a:r>
            <a:r>
              <a:rPr lang="en-US" altLang="ko-KR" dirty="0" smtClean="0"/>
              <a:t>URL</a:t>
            </a:r>
          </a:p>
          <a:p>
            <a:pPr lvl="1"/>
            <a:r>
              <a:rPr lang="en-US" altLang="ko-KR" sz="1800" dirty="0" smtClean="0">
                <a:solidFill>
                  <a:schemeClr val="tx2"/>
                </a:solidFill>
              </a:rPr>
              <a:t>“http</a:t>
            </a:r>
            <a:r>
              <a:rPr lang="en-US" altLang="ko-KR" sz="1800" dirty="0">
                <a:solidFill>
                  <a:schemeClr val="tx2"/>
                </a:solidFill>
              </a:rPr>
              <a:t>://</a:t>
            </a:r>
            <a:r>
              <a:rPr lang="en-US" altLang="ko-KR" sz="1800" dirty="0" smtClean="0">
                <a:solidFill>
                  <a:schemeClr val="tx2"/>
                </a:solidFill>
              </a:rPr>
              <a:t>static.naver.net/www/u/2010/0611/nmms_215646753.gif”</a:t>
            </a:r>
          </a:p>
          <a:p>
            <a:pPr lvl="1"/>
            <a:endParaRPr lang="en-US" altLang="ko-KR" sz="1800" dirty="0"/>
          </a:p>
          <a:p>
            <a:r>
              <a:rPr lang="ko-KR" altLang="en-US" dirty="0" smtClean="0"/>
              <a:t>절대 경로</a:t>
            </a:r>
            <a:r>
              <a:rPr lang="en-US" altLang="ko-KR" dirty="0" smtClean="0"/>
              <a:t>2 – </a:t>
            </a:r>
            <a:r>
              <a:rPr lang="ko-KR" altLang="en-US" dirty="0" smtClean="0"/>
              <a:t>내 컴퓨터에 있는 파일의 위치</a:t>
            </a:r>
            <a:endParaRPr lang="en-US" altLang="ko-KR" dirty="0" smtClean="0"/>
          </a:p>
          <a:p>
            <a:pPr lvl="1"/>
            <a:r>
              <a:rPr lang="en-US" altLang="ko-KR" dirty="0">
                <a:solidFill>
                  <a:schemeClr val="tx2"/>
                </a:solidFill>
              </a:rPr>
              <a:t>“C:/Users/</a:t>
            </a:r>
            <a:r>
              <a:rPr lang="ko-KR" altLang="en-US" dirty="0">
                <a:solidFill>
                  <a:schemeClr val="tx2"/>
                </a:solidFill>
              </a:rPr>
              <a:t>기웅</a:t>
            </a:r>
            <a:r>
              <a:rPr lang="en-US" altLang="ko-KR" dirty="0">
                <a:solidFill>
                  <a:schemeClr val="tx2"/>
                </a:solidFill>
              </a:rPr>
              <a:t>/workspace/HTML/</a:t>
            </a:r>
            <a:r>
              <a:rPr lang="en-US" altLang="ko-KR" dirty="0" err="1">
                <a:solidFill>
                  <a:schemeClr val="tx2"/>
                </a:solidFill>
              </a:rPr>
              <a:t>WebContent</a:t>
            </a:r>
            <a:r>
              <a:rPr lang="en-US" altLang="ko-KR" dirty="0">
                <a:solidFill>
                  <a:schemeClr val="tx2"/>
                </a:solidFill>
              </a:rPr>
              <a:t>/</a:t>
            </a:r>
            <a:r>
              <a:rPr lang="ko-KR" altLang="en-US" dirty="0">
                <a:solidFill>
                  <a:schemeClr val="tx2"/>
                </a:solidFill>
              </a:rPr>
              <a:t>짠</a:t>
            </a:r>
            <a:r>
              <a:rPr lang="en-US" altLang="ko-KR" dirty="0">
                <a:solidFill>
                  <a:schemeClr val="tx2"/>
                </a:solidFill>
              </a:rPr>
              <a:t>.jpg”</a:t>
            </a:r>
            <a:endParaRPr lang="en-US" altLang="ko-KR" dirty="0" smtClean="0">
              <a:solidFill>
                <a:schemeClr val="tx2"/>
              </a:solidFill>
            </a:endParaRPr>
          </a:p>
          <a:p>
            <a:pPr lvl="1"/>
            <a:endParaRPr lang="en-US" altLang="ko-KR" dirty="0"/>
          </a:p>
          <a:p>
            <a:r>
              <a:rPr lang="ko-KR" altLang="en-US" dirty="0" smtClean="0"/>
              <a:t>상대 경로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현재 </a:t>
            </a:r>
            <a:r>
              <a:rPr lang="en-US" altLang="ko-KR" dirty="0" smtClean="0"/>
              <a:t>HTML</a:t>
            </a:r>
            <a:r>
              <a:rPr lang="ko-KR" altLang="en-US" dirty="0" smtClean="0"/>
              <a:t>파일 기준으로</a:t>
            </a:r>
            <a:endParaRPr lang="en-US" altLang="ko-KR" dirty="0" smtClean="0"/>
          </a:p>
          <a:p>
            <a:pPr lvl="1"/>
            <a:r>
              <a:rPr lang="en-US" altLang="ko-KR" dirty="0" smtClean="0">
                <a:solidFill>
                  <a:schemeClr val="tx2"/>
                </a:solidFill>
              </a:rPr>
              <a:t>..</a:t>
            </a:r>
            <a:r>
              <a:rPr lang="en-US" altLang="ko-KR" dirty="0" smtClean="0"/>
              <a:t>  – </a:t>
            </a:r>
            <a:r>
              <a:rPr lang="ko-KR" altLang="en-US" dirty="0" smtClean="0"/>
              <a:t>한 단계 위 폴더</a:t>
            </a:r>
            <a:endParaRPr lang="en-US" altLang="ko-KR" dirty="0" smtClean="0"/>
          </a:p>
          <a:p>
            <a:pPr lvl="1"/>
            <a:r>
              <a:rPr lang="en-US" altLang="ko-KR" dirty="0" smtClean="0">
                <a:solidFill>
                  <a:schemeClr val="tx2"/>
                </a:solidFill>
              </a:rPr>
              <a:t>.</a:t>
            </a:r>
            <a:r>
              <a:rPr lang="en-US" altLang="ko-KR" dirty="0" smtClean="0"/>
              <a:t>  – </a:t>
            </a:r>
            <a:r>
              <a:rPr lang="ko-KR" altLang="en-US" dirty="0" smtClean="0"/>
              <a:t>현재 폴더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ex) </a:t>
            </a:r>
            <a:r>
              <a:rPr lang="ko-KR" altLang="en-US" dirty="0" smtClean="0"/>
              <a:t>짠</a:t>
            </a:r>
            <a:r>
              <a:rPr lang="en-US" altLang="ko-KR" dirty="0" smtClean="0"/>
              <a:t>.jpg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C:/Users/</a:t>
            </a:r>
            <a:r>
              <a:rPr lang="ko-KR" altLang="en-US" dirty="0" smtClean="0"/>
              <a:t>기웅</a:t>
            </a:r>
            <a:r>
              <a:rPr lang="en-US" altLang="ko-KR" dirty="0" smtClean="0"/>
              <a:t>/workspace/HTML</a:t>
            </a:r>
            <a:r>
              <a:rPr lang="ko-KR" altLang="en-US" dirty="0" smtClean="0"/>
              <a:t>폴더에 있다면</a:t>
            </a:r>
            <a:endParaRPr lang="en-US" altLang="ko-KR" dirty="0" smtClean="0"/>
          </a:p>
          <a:p>
            <a:pPr lvl="2"/>
            <a:r>
              <a:rPr lang="en-US" altLang="ko-KR" dirty="0" smtClean="0">
                <a:solidFill>
                  <a:schemeClr val="tx2"/>
                </a:solidFill>
              </a:rPr>
              <a:t>“../</a:t>
            </a:r>
            <a:r>
              <a:rPr lang="ko-KR" altLang="en-US" dirty="0" smtClean="0">
                <a:solidFill>
                  <a:schemeClr val="tx2"/>
                </a:solidFill>
              </a:rPr>
              <a:t>짠</a:t>
            </a:r>
            <a:r>
              <a:rPr lang="en-US" altLang="ko-KR" dirty="0" smtClean="0">
                <a:solidFill>
                  <a:schemeClr val="tx2"/>
                </a:solidFill>
              </a:rPr>
              <a:t>.jpg”</a:t>
            </a:r>
            <a:endParaRPr lang="ko-KR" alt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95140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&lt;body&gt;</a:t>
            </a:r>
            <a:r>
              <a:rPr lang="ko-KR" altLang="en-US" dirty="0" smtClean="0"/>
              <a:t>의 속성</a:t>
            </a:r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여백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pPr lvl="1"/>
            <a:r>
              <a:rPr lang="ko-KR" altLang="en-US" dirty="0" smtClean="0"/>
              <a:t>브라우저에 따라 인식하는 태그 다름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988840"/>
            <a:ext cx="7272807" cy="603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3436" y="4338134"/>
            <a:ext cx="4876091" cy="1971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14250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좌표 값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거리</a:t>
            </a:r>
            <a:r>
              <a:rPr lang="en-US" altLang="ko-KR" dirty="0" smtClean="0"/>
              <a:t>, </a:t>
            </a:r>
            <a:r>
              <a:rPr lang="ko-KR" altLang="en-US" dirty="0" smtClean="0"/>
              <a:t>크기 등에서</a:t>
            </a:r>
            <a:endParaRPr lang="en-US" altLang="ko-KR" dirty="0" smtClean="0"/>
          </a:p>
          <a:p>
            <a:pPr lvl="1"/>
            <a:r>
              <a:rPr lang="en-US" altLang="ko-KR" dirty="0" smtClean="0">
                <a:solidFill>
                  <a:schemeClr val="tx2"/>
                </a:solidFill>
              </a:rPr>
              <a:t>“20px” </a:t>
            </a:r>
            <a:r>
              <a:rPr lang="en-US" altLang="ko-KR" dirty="0" smtClean="0"/>
              <a:t>: 20</a:t>
            </a:r>
            <a:r>
              <a:rPr lang="ko-KR" altLang="en-US" dirty="0" smtClean="0"/>
              <a:t>픽셀</a:t>
            </a:r>
            <a:endParaRPr lang="en-US" altLang="ko-KR" dirty="0" smtClean="0"/>
          </a:p>
          <a:p>
            <a:pPr lvl="1"/>
            <a:r>
              <a:rPr lang="en-US" altLang="ko-KR" dirty="0" smtClean="0">
                <a:solidFill>
                  <a:schemeClr val="tx2"/>
                </a:solidFill>
              </a:rPr>
              <a:t>“20” </a:t>
            </a:r>
            <a:r>
              <a:rPr lang="en-US" altLang="ko-KR" dirty="0" smtClean="0"/>
              <a:t>: 20</a:t>
            </a:r>
            <a:r>
              <a:rPr lang="ko-KR" altLang="en-US" dirty="0" smtClean="0"/>
              <a:t>픽셀</a:t>
            </a:r>
            <a:endParaRPr lang="en-US" altLang="ko-KR" dirty="0" smtClean="0"/>
          </a:p>
          <a:p>
            <a:pPr lvl="1"/>
            <a:r>
              <a:rPr lang="en-US" altLang="ko-KR" dirty="0" smtClean="0">
                <a:solidFill>
                  <a:schemeClr val="tx2"/>
                </a:solidFill>
              </a:rPr>
              <a:t>“20%”</a:t>
            </a:r>
            <a:r>
              <a:rPr lang="en-US" altLang="ko-KR" dirty="0" smtClean="0"/>
              <a:t> : </a:t>
            </a:r>
            <a:r>
              <a:rPr lang="ko-KR" altLang="en-US" dirty="0" smtClean="0"/>
              <a:t>현재 화면 사이즈에서 </a:t>
            </a:r>
            <a:r>
              <a:rPr lang="en-US" altLang="ko-KR" dirty="0" smtClean="0"/>
              <a:t>20%</a:t>
            </a:r>
            <a:r>
              <a:rPr lang="ko-KR" altLang="en-US" dirty="0" smtClean="0"/>
              <a:t>만큼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52688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글자 관련 태그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95408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기본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줄 바꾸기</a:t>
            </a:r>
            <a:endParaRPr lang="ko-KR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988840"/>
            <a:ext cx="545782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212976"/>
            <a:ext cx="5486400" cy="303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99111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글자 속성 </a:t>
            </a:r>
            <a:r>
              <a:rPr lang="en-US" altLang="ko-KR" dirty="0" smtClean="0"/>
              <a:t>- &lt;font&gt; </a:t>
            </a:r>
            <a:r>
              <a:rPr lang="ko-KR" altLang="en-US" dirty="0" smtClean="0"/>
              <a:t>태그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글자 속성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기타</a:t>
            </a:r>
            <a:endParaRPr lang="en-US" altLang="ko-KR" dirty="0" smtClean="0"/>
          </a:p>
          <a:p>
            <a:pPr marL="411480" lvl="1" indent="0">
              <a:buNone/>
            </a:pPr>
            <a:endParaRPr lang="ko-KR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1" y="2060848"/>
            <a:ext cx="3816424" cy="5877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4005064"/>
            <a:ext cx="3000375" cy="162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3933056"/>
            <a:ext cx="2962978" cy="1640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786176"/>
            <a:ext cx="2966354" cy="1642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01909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특수문</a:t>
            </a:r>
            <a:r>
              <a:rPr lang="ko-KR" altLang="en-US" dirty="0"/>
              <a:t>자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988840"/>
            <a:ext cx="3886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0121" y="1542653"/>
            <a:ext cx="3406069" cy="1886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75471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정렬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정렬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213" y="1988840"/>
            <a:ext cx="5722019" cy="2009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1917" y="4077072"/>
            <a:ext cx="4173429" cy="2311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9490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기타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수평선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dirty="0" smtClean="0"/>
              <a:t>주석</a:t>
            </a:r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영역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dirty="0" err="1" smtClean="0"/>
              <a:t>쓴대</a:t>
            </a:r>
            <a:r>
              <a:rPr lang="ko-KR" altLang="en-US" dirty="0" err="1"/>
              <a:t>로</a:t>
            </a:r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988840"/>
            <a:ext cx="7200800" cy="5414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177158"/>
            <a:ext cx="138112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4437112"/>
            <a:ext cx="340042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471" y="5589240"/>
            <a:ext cx="2514600" cy="96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1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9075" y="3444770"/>
            <a:ext cx="3523325" cy="1951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669626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목록 만들기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기본 목록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991097"/>
            <a:ext cx="4152900" cy="2085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3835545"/>
            <a:ext cx="4622304" cy="2559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77450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모양 바꾸기</a:t>
            </a:r>
            <a:endParaRPr lang="ko-KR" alt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988840"/>
            <a:ext cx="6657975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4091449"/>
            <a:ext cx="4550296" cy="2520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740934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그림 관련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37859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기본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원본 크기 그림 사용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dirty="0" smtClean="0"/>
              <a:t>크기 조절</a:t>
            </a:r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953022"/>
            <a:ext cx="235267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232" y="3193696"/>
            <a:ext cx="6410325" cy="35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6450" y="3546284"/>
            <a:ext cx="2565950" cy="27797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245378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정</a:t>
            </a:r>
            <a:r>
              <a:rPr lang="ko-KR" altLang="en-US" dirty="0"/>
              <a:t>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이미지 좌</a:t>
            </a:r>
            <a:r>
              <a:rPr lang="en-US" altLang="ko-KR" dirty="0" smtClean="0"/>
              <a:t>/</a:t>
            </a:r>
            <a:r>
              <a:rPr lang="ko-KR" altLang="en-US" dirty="0" smtClean="0"/>
              <a:t>우 정렬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dirty="0" smtClean="0"/>
              <a:t>이미지 옆 글자 정렬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962346"/>
            <a:ext cx="7344816" cy="242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212976"/>
            <a:ext cx="7272808" cy="245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000" y="4221088"/>
            <a:ext cx="5486400" cy="223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49463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여</a:t>
            </a:r>
            <a:r>
              <a:rPr lang="ko-KR" altLang="en-US" dirty="0"/>
              <a:t>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좌우</a:t>
            </a:r>
            <a:r>
              <a:rPr lang="en-US" altLang="ko-KR" dirty="0" smtClean="0"/>
              <a:t>/ </a:t>
            </a:r>
            <a:r>
              <a:rPr lang="ko-KR" altLang="en-US" dirty="0" smtClean="0"/>
              <a:t>상하 여백</a:t>
            </a:r>
            <a:endParaRPr lang="ko-KR" altLang="en-US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006770"/>
            <a:ext cx="4914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2876" y="2348880"/>
            <a:ext cx="5159524" cy="4146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93288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근접">
  <a:themeElements>
    <a:clrScheme name="사용자 지정 28">
      <a:dk1>
        <a:srgbClr val="2F2B20"/>
      </a:dk1>
      <a:lt1>
        <a:srgbClr val="FFFFFF"/>
      </a:lt1>
      <a:dk2>
        <a:srgbClr val="0070C0"/>
      </a:dk2>
      <a:lt2>
        <a:srgbClr val="DFDCB7"/>
      </a:lt2>
      <a:accent1>
        <a:srgbClr val="00B0F0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근접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351</TotalTime>
  <Words>474</Words>
  <Application>Microsoft Office PowerPoint</Application>
  <PresentationFormat>화면 슬라이드 쇼(4:3)</PresentationFormat>
  <Paragraphs>152</Paragraphs>
  <Slides>35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36" baseType="lpstr">
      <vt:lpstr>근접</vt:lpstr>
      <vt:lpstr>HTML</vt:lpstr>
      <vt:lpstr>개요</vt:lpstr>
      <vt:lpstr>HTML?</vt:lpstr>
      <vt:lpstr>구성 요소</vt:lpstr>
      <vt:lpstr>HTML 작성 툴</vt:lpstr>
      <vt:lpstr>개발 환경 설정</vt:lpstr>
      <vt:lpstr>eclipse</vt:lpstr>
      <vt:lpstr>PowerPoint 프레젠테이션</vt:lpstr>
      <vt:lpstr>HTML기초</vt:lpstr>
      <vt:lpstr>HTML 작성</vt:lpstr>
      <vt:lpstr>PowerPoint 프레젠테이션</vt:lpstr>
      <vt:lpstr>PowerPoint 프레젠테이션</vt:lpstr>
      <vt:lpstr>PowerPoint 프레젠테이션</vt:lpstr>
      <vt:lpstr>eclipse설정</vt:lpstr>
      <vt:lpstr>PowerPoint 프레젠테이션</vt:lpstr>
      <vt:lpstr>HTML 기본 구조</vt:lpstr>
      <vt:lpstr>&lt;meta&gt;의 활용</vt:lpstr>
      <vt:lpstr>&lt;body&gt;의 속성1</vt:lpstr>
      <vt:lpstr>색깔 사용</vt:lpstr>
      <vt:lpstr>&lt;body&gt;의 속성2</vt:lpstr>
      <vt:lpstr>파일 사용</vt:lpstr>
      <vt:lpstr>&lt;body&gt;의 속성3</vt:lpstr>
      <vt:lpstr>좌표 값</vt:lpstr>
      <vt:lpstr>글자 관련 태그</vt:lpstr>
      <vt:lpstr>기본</vt:lpstr>
      <vt:lpstr>PowerPoint 프레젠테이션</vt:lpstr>
      <vt:lpstr>PowerPoint 프레젠테이션</vt:lpstr>
      <vt:lpstr>정렬</vt:lpstr>
      <vt:lpstr>기타</vt:lpstr>
      <vt:lpstr>목록 만들기</vt:lpstr>
      <vt:lpstr>PowerPoint 프레젠테이션</vt:lpstr>
      <vt:lpstr>그림 관련</vt:lpstr>
      <vt:lpstr>기본</vt:lpstr>
      <vt:lpstr>정렬</vt:lpstr>
      <vt:lpstr>여백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인터넷</dc:title>
  <dc:creator>권기웅</dc:creator>
  <cp:lastModifiedBy>권기웅</cp:lastModifiedBy>
  <cp:revision>27</cp:revision>
  <dcterms:created xsi:type="dcterms:W3CDTF">2013-03-07T06:21:35Z</dcterms:created>
  <dcterms:modified xsi:type="dcterms:W3CDTF">2013-03-11T05:19:35Z</dcterms:modified>
</cp:coreProperties>
</file>